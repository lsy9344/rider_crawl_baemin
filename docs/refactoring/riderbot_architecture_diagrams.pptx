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52A4A"/>
                </a:solidFill>
                <a:latin typeface="NanumSquare"/>
              </a:rPr>
              <a:t>배달 실적봇 목표 아키텍처 한눈에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498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C6670"/>
                </a:solidFill>
                <a:latin typeface="NanumSquare"/>
              </a:rPr>
              <a:t>현재 일반 PC를 작업 노드로 쓰고, 클라우드는 중앙 관리/큐/로그/구독을 담당하는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148840" cy="1005840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300" b="1">
                <a:solidFill>
                  <a:srgbClr val="D87428"/>
                </a:solidFill>
                <a:latin typeface="NanumSquare"/>
              </a:rPr>
              <a:t>현재 일반 PC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1C2024"/>
                </a:solidFill>
                <a:latin typeface="NanumSquare"/>
              </a:rPr>
              <a:t>Chrome</a:t>
            </a:r>
            <a:br/>
            <a:r>
              <a:rPr sz="1200" b="0">
                <a:solidFill>
                  <a:srgbClr val="1C2024"/>
                </a:solidFill>
                <a:latin typeface="NanumSquare"/>
              </a:rPr>
              <a:t>배민/쿠팡 세션</a:t>
            </a:r>
            <a:br/>
            <a:r>
              <a:rPr sz="1200" b="0">
                <a:solidFill>
                  <a:srgbClr val="1C2024"/>
                </a:solidFill>
                <a:latin typeface="NanumSquare"/>
              </a:rPr>
              <a:t>카카오톡 PC 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1170432"/>
            <a:ext cx="2331720" cy="132588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300" b="1">
                <a:solidFill>
                  <a:srgbClr val="2A62A8"/>
                </a:solidFill>
                <a:latin typeface="NanumSquare"/>
              </a:rPr>
              <a:t>클라우드 중앙 서버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1C2024"/>
                </a:solidFill>
                <a:latin typeface="NanumSquare"/>
              </a:rPr>
              <a:t>고객/구독/설정</a:t>
            </a:r>
            <a:br/>
            <a:r>
              <a:rPr sz="1200" b="0">
                <a:solidFill>
                  <a:srgbClr val="1C2024"/>
                </a:solidFill>
                <a:latin typeface="NanumSquare"/>
              </a:rPr>
              <a:t>작업 큐/상태/로그</a:t>
            </a:r>
            <a:br/>
            <a:r>
              <a:rPr sz="1200" b="0">
                <a:solidFill>
                  <a:srgbClr val="1C2024"/>
                </a:solidFill>
                <a:latin typeface="NanumSquare"/>
              </a:rPr>
              <a:t>텔레그램 webhook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72600" y="1325880"/>
            <a:ext cx="2148840" cy="1005840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300" b="1">
                <a:solidFill>
                  <a:srgbClr val="268757"/>
                </a:solidFill>
                <a:latin typeface="NanumSquare"/>
              </a:rPr>
              <a:t>채팅방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1C2024"/>
                </a:solidFill>
                <a:latin typeface="NanumSquare"/>
              </a:rPr>
              <a:t>텔레그램 그룹/토픽</a:t>
            </a:r>
            <a:br/>
            <a:r>
              <a:rPr sz="1200" b="0">
                <a:solidFill>
                  <a:srgbClr val="1C2024"/>
                </a:solidFill>
                <a:latin typeface="NanumSquare"/>
              </a:rPr>
              <a:t>카카오톡 단체방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1810512"/>
            <a:ext cx="2084832" cy="0"/>
          </a:xfrm>
          <a:prstGeom prst="line">
            <a:avLst/>
          </a:prstGeom>
          <a:ln w="25400">
            <a:solidFill>
              <a:srgbClr val="2A62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1810512"/>
            <a:ext cx="1947672" cy="0"/>
          </a:xfrm>
          <a:prstGeom prst="line">
            <a:avLst/>
          </a:prstGeom>
          <a:ln w="2540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63240" y="1417320"/>
            <a:ext cx="1645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A62A8"/>
                </a:solidFill>
                <a:latin typeface="NanumSquare"/>
              </a:rPr>
              <a:t>상태 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1417320"/>
            <a:ext cx="1645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68757"/>
                </a:solidFill>
                <a:latin typeface="NanumSquare"/>
              </a:rPr>
              <a:t>전송 지시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71800"/>
            <a:ext cx="2286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300" b="1">
                <a:solidFill>
                  <a:srgbClr val="152A4A"/>
                </a:solidFill>
                <a:latin typeface="NanumSquare"/>
              </a:rPr>
              <a:t>사람이 하는 일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1C2024"/>
                </a:solidFill>
                <a:latin typeface="NanumSquare"/>
              </a:rPr>
              <a:t>배민 휴대폰 인증</a:t>
            </a:r>
            <a:br/>
            <a:r>
              <a:rPr sz="1200" b="0">
                <a:solidFill>
                  <a:srgbClr val="1C2024"/>
                </a:solidFill>
                <a:latin typeface="NanumSquare"/>
              </a:rPr>
              <a:t>카카오 방 초대/확인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971800"/>
            <a:ext cx="2286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300" b="1">
                <a:solidFill>
                  <a:srgbClr val="152A4A"/>
                </a:solidFill>
                <a:latin typeface="NanumSquare"/>
              </a:rPr>
              <a:t>클라우드가 하는 일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1C2024"/>
                </a:solidFill>
                <a:latin typeface="NanumSquare"/>
              </a:rPr>
              <a:t>누가/언제/어디로</a:t>
            </a:r>
            <a:br/>
            <a:r>
              <a:rPr sz="1200" b="0">
                <a:solidFill>
                  <a:srgbClr val="1C2024"/>
                </a:solidFill>
                <a:latin typeface="NanumSquare"/>
              </a:rPr>
              <a:t>보낼지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71800"/>
            <a:ext cx="2286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300" b="1">
                <a:solidFill>
                  <a:srgbClr val="152A4A"/>
                </a:solidFill>
                <a:latin typeface="NanumSquare"/>
              </a:rPr>
              <a:t>PC Agent가 하는 일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1C2024"/>
                </a:solidFill>
                <a:latin typeface="NanumSquare"/>
              </a:rPr>
              <a:t>Chrome 읽기</a:t>
            </a:r>
            <a:br/>
            <a:r>
              <a:rPr sz="1200" b="0">
                <a:solidFill>
                  <a:srgbClr val="1C2024"/>
                </a:solidFill>
                <a:latin typeface="NanumSquare"/>
              </a:rPr>
              <a:t>카카오톡 보내기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971800"/>
            <a:ext cx="2286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300" b="1">
                <a:solidFill>
                  <a:srgbClr val="152A4A"/>
                </a:solidFill>
                <a:latin typeface="NanumSquare"/>
              </a:rPr>
              <a:t>나중에 늘리는 법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1C2024"/>
                </a:solidFill>
                <a:latin typeface="NanumSquare"/>
              </a:rPr>
              <a:t>PC Agent 추가</a:t>
            </a:r>
            <a:br/>
            <a:r>
              <a:rPr sz="1200" b="0">
                <a:solidFill>
                  <a:srgbClr val="1C2024"/>
                </a:solidFill>
                <a:latin typeface="NanumSquare"/>
              </a:rPr>
              <a:t>Sender 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09160"/>
            <a:ext cx="10515600" cy="777240"/>
          </a:xfrm>
          <a:prstGeom prst="roundRect">
            <a:avLst/>
          </a:prstGeom>
          <a:solidFill>
            <a:srgbClr val="FFF8D4"/>
          </a:solidFill>
          <a:ln w="12700">
            <a:solidFill>
              <a:srgbClr val="EB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D87428"/>
                </a:solidFill>
                <a:latin typeface="NanumSquare"/>
              </a:rPr>
              <a:t>기억 포인트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C2024"/>
                </a:solidFill>
                <a:latin typeface="NanumSquare"/>
              </a:rPr>
              <a:t>클라우드는 “두뇌”, 일반 PC는 “손발”, 카카오톡은 “별도 전송 공장”으로 기억하면 됩니다.</a:t>
            </a:r>
            <a:br/>
            <a:r>
              <a:rPr sz="1000" b="0">
                <a:solidFill>
                  <a:srgbClr val="1C2024"/>
                </a:solidFill>
                <a:latin typeface="NanumSquare"/>
              </a:rPr>
              <a:t>고성능 서버는 처음부터 필수는 아니며, 일반 PC가 버티지 못하는 지표가 나오면 작업 노드로 구매합니다.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87919B"/>
                </a:solidFill>
                <a:latin typeface="NanumSquare"/>
              </a:rPr>
              <a:t>배달 실적봇 리팩토링 아키텍처 요약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52A4A"/>
                </a:solidFill>
                <a:latin typeface="NanumSquare"/>
              </a:rPr>
              <a:t>현재 구조와 목표 구조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498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C6670"/>
                </a:solidFill>
                <a:latin typeface="NanumSquare"/>
              </a:rPr>
              <a:t>현재의 탭 기반 로컬 앱을 customer_id + 중앙 서버 + Agent 구조로 바꿉니다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5212080" cy="301752"/>
          </a:xfrm>
          <a:prstGeom prst="roundRect">
            <a:avLst/>
          </a:prstGeom>
          <a:solidFill>
            <a:srgbClr val="D87428"/>
          </a:solidFill>
          <a:ln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현재: 로컬 PC 한 대 중심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417320" cy="566928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D87428"/>
                </a:solidFill>
                <a:latin typeface="NanumSquare"/>
              </a:rPr>
              <a:t>Tkinter UI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크롤링1~9 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645920"/>
            <a:ext cx="1417320" cy="566928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D87428"/>
                </a:solidFill>
                <a:latin typeface="NanumSquare"/>
              </a:rPr>
              <a:t>탭별 Thread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run_once 반복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417320" cy="566928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D87428"/>
                </a:solidFill>
                <a:latin typeface="NanumSquare"/>
              </a:rPr>
              <a:t>Chrome Profile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CDP 포트 수동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743200"/>
            <a:ext cx="1417320" cy="566928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D87428"/>
                </a:solidFill>
                <a:latin typeface="NanumSquare"/>
              </a:rPr>
              <a:t>전송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Telegram/Kakao 직접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1929384"/>
            <a:ext cx="475488" cy="0"/>
          </a:xfrm>
          <a:prstGeom prst="line">
            <a:avLst/>
          </a:prstGeom>
          <a:ln w="1905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6192" y="2212848"/>
            <a:ext cx="0" cy="484632"/>
          </a:xfrm>
          <a:prstGeom prst="line">
            <a:avLst/>
          </a:prstGeom>
          <a:ln w="1905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2212848"/>
            <a:ext cx="0" cy="484632"/>
          </a:xfrm>
          <a:prstGeom prst="line">
            <a:avLst/>
          </a:prstGeom>
          <a:ln w="1905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40280" y="3026664"/>
            <a:ext cx="475488" cy="0"/>
          </a:xfrm>
          <a:prstGeom prst="line">
            <a:avLst/>
          </a:prstGeom>
          <a:ln w="1905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4069080"/>
            <a:ext cx="4434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B23737"/>
                </a:solidFill>
                <a:latin typeface="NanumSquare"/>
              </a:rPr>
              <a:t>확장 시 문제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1C2024"/>
                </a:solidFill>
                <a:latin typeface="NanumSquare"/>
              </a:rPr>
              <a:t>고객 ID 없음 · 탭 순번이 상태 식별자</a:t>
            </a:r>
            <a:br/>
            <a:r>
              <a:rPr sz="950" b="0">
                <a:solidFill>
                  <a:srgbClr val="1C2024"/>
                </a:solidFill>
                <a:latin typeface="NanumSquare"/>
              </a:rPr>
              <a:t>수집/전송이 한 job에 묶임</a:t>
            </a:r>
            <a:br/>
            <a:r>
              <a:rPr sz="950" b="0">
                <a:solidFill>
                  <a:srgbClr val="1C2024"/>
                </a:solidFill>
                <a:latin typeface="NanumSquare"/>
              </a:rPr>
              <a:t>카카오톡 UI 자동화가 병목</a:t>
            </a:r>
            <a:br/>
            <a:r>
              <a:rPr sz="950" b="0">
                <a:solidFill>
                  <a:srgbClr val="1C2024"/>
                </a:solidFill>
                <a:latin typeface="NanumSquare"/>
              </a:rPr>
              <a:t>중앙 로그/구독/장애 관리 부재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115568"/>
            <a:ext cx="5212080" cy="301752"/>
          </a:xfrm>
          <a:prstGeom prst="roundRect">
            <a:avLst/>
          </a:prstGeom>
          <a:solidFill>
            <a:srgbClr val="2A62A8"/>
          </a:solidFill>
          <a:ln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목표: 클라우드 + 일반 PC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1600200" cy="658368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2A62A8"/>
                </a:solidFill>
                <a:latin typeface="NanumSquare"/>
              </a:rPr>
              <a:t>Admin/API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고객·구독·설정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508760"/>
            <a:ext cx="1417320" cy="658368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2A62A8"/>
                </a:solidFill>
                <a:latin typeface="NanumSquare"/>
              </a:rPr>
              <a:t>Queue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작업 배정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0" y="1508760"/>
            <a:ext cx="868680" cy="658368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2A62A8"/>
                </a:solidFill>
                <a:latin typeface="NanumSquare"/>
              </a:rPr>
              <a:t>DB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상태/로그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2743200"/>
            <a:ext cx="182880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268757"/>
                </a:solidFill>
                <a:latin typeface="NanumSquare"/>
              </a:rPr>
              <a:t>Local Agent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현재 일반 PC 사용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743200"/>
            <a:ext cx="128016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268757"/>
                </a:solidFill>
                <a:latin typeface="NanumSquare"/>
              </a:rPr>
              <a:t>Crawler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배민/쿠팡 수집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44200" y="2743200"/>
            <a:ext cx="73152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268757"/>
                </a:solidFill>
                <a:latin typeface="NanumSquare"/>
              </a:rPr>
              <a:t>Kakao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직렬 전송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21040" y="1837943"/>
            <a:ext cx="420624" cy="0"/>
          </a:xfrm>
          <a:prstGeom prst="line">
            <a:avLst/>
          </a:prstGeom>
          <a:ln w="19050">
            <a:solidFill>
              <a:srgbClr val="2A62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95560" y="1837943"/>
            <a:ext cx="374904" cy="0"/>
          </a:xfrm>
          <a:prstGeom prst="line">
            <a:avLst/>
          </a:prstGeom>
          <a:ln w="19050">
            <a:solidFill>
              <a:srgbClr val="2A62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635240" y="2167128"/>
            <a:ext cx="1143000" cy="530352"/>
          </a:xfrm>
          <a:prstGeom prst="line">
            <a:avLst/>
          </a:prstGeom>
          <a:ln w="1905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49640" y="3072384"/>
            <a:ext cx="502920" cy="0"/>
          </a:xfrm>
          <a:prstGeom prst="line">
            <a:avLst/>
          </a:prstGeom>
          <a:ln w="1905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378440" y="3072384"/>
            <a:ext cx="320040" cy="0"/>
          </a:xfrm>
          <a:prstGeom prst="line">
            <a:avLst/>
          </a:prstGeom>
          <a:ln w="1905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720840" y="4069080"/>
            <a:ext cx="4526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268757"/>
                </a:solidFill>
                <a:latin typeface="NanumSquare"/>
              </a:rPr>
              <a:t>개선 포인트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1C2024"/>
                </a:solidFill>
                <a:latin typeface="NanumSquare"/>
              </a:rPr>
              <a:t>customer_id 중심 관리</a:t>
            </a:r>
            <a:br/>
            <a:r>
              <a:rPr sz="950" b="0">
                <a:solidFill>
                  <a:srgbClr val="1C2024"/>
                </a:solidFill>
                <a:latin typeface="NanumSquare"/>
              </a:rPr>
              <a:t>수집 → 저장 → 렌더링 → 전송 분리</a:t>
            </a:r>
            <a:br/>
            <a:r>
              <a:rPr sz="950" b="0">
                <a:solidFill>
                  <a:srgbClr val="1C2024"/>
                </a:solidFill>
                <a:latin typeface="NanumSquare"/>
              </a:rPr>
              <a:t>Telegram은 중앙 webhook</a:t>
            </a:r>
            <a:br/>
            <a:r>
              <a:rPr sz="950" b="0">
                <a:solidFill>
                  <a:srgbClr val="1C2024"/>
                </a:solidFill>
                <a:latin typeface="NanumSquare"/>
              </a:rPr>
              <a:t>Kakao는 Sender Queue로 직렬 처리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87919B"/>
                </a:solidFill>
                <a:latin typeface="NanumSquare"/>
              </a:rPr>
              <a:t>배달 실적봇 리팩토링 아키텍처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52A4A"/>
                </a:solidFill>
                <a:latin typeface="NanumSquare"/>
              </a:rPr>
              <a:t>목표 아키텍처 상세도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498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C6670"/>
                </a:solidFill>
                <a:latin typeface="NanumSquare"/>
              </a:rPr>
              <a:t>서버가 없을 때는 현재 일반 PC를 Local Agent #1로 붙이고, 필요 시 Agent만 추가합니다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2103120" cy="301752"/>
          </a:xfrm>
          <a:prstGeom prst="roundRect">
            <a:avLst/>
          </a:prstGeom>
          <a:solidFill>
            <a:srgbClr val="674A9E"/>
          </a:solidFill>
          <a:ln>
            <a:solidFill>
              <a:srgbClr val="67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사용자/운영자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115568"/>
            <a:ext cx="3657600" cy="301752"/>
          </a:xfrm>
          <a:prstGeom prst="roundRect">
            <a:avLst/>
          </a:prstGeom>
          <a:solidFill>
            <a:srgbClr val="2A62A8"/>
          </a:solidFill>
          <a:ln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클라우드 중앙 서버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115568"/>
            <a:ext cx="2743200" cy="301752"/>
          </a:xfrm>
          <a:prstGeom prst="roundRect">
            <a:avLst/>
          </a:prstGeom>
          <a:solidFill>
            <a:srgbClr val="268757"/>
          </a:solidFill>
          <a:ln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일반 PC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1115568"/>
            <a:ext cx="1737360" cy="301752"/>
          </a:xfrm>
          <a:prstGeom prst="roundRect">
            <a:avLst/>
          </a:prstGeom>
          <a:solidFill>
            <a:srgbClr val="D87428"/>
          </a:solidFill>
          <a:ln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외부 서비스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645920" cy="658368"/>
          </a:xfrm>
          <a:prstGeom prst="roundRect">
            <a:avLst/>
          </a:prstGeom>
          <a:solidFill>
            <a:srgbClr val="ECE5FA"/>
          </a:solidFill>
          <a:ln w="12700">
            <a:solidFill>
              <a:srgbClr val="67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00" b="1">
                <a:solidFill>
                  <a:srgbClr val="674A9E"/>
                </a:solidFill>
                <a:latin typeface="NanumSquare"/>
              </a:rPr>
              <a:t>관리자 웹</a:t>
            </a:r>
          </a:p>
          <a:p>
            <a:pPr algn="ctr">
              <a:spcBef>
                <a:spcPts val="300"/>
              </a:spcBef>
            </a:pPr>
            <a:r>
              <a:rPr sz="830" b="0">
                <a:solidFill>
                  <a:srgbClr val="1C2024"/>
                </a:solidFill>
                <a:latin typeface="NanumSquare"/>
              </a:rPr>
              <a:t>고객 등록/상태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1645920" cy="658368"/>
          </a:xfrm>
          <a:prstGeom prst="roundRect">
            <a:avLst/>
          </a:prstGeom>
          <a:solidFill>
            <a:srgbClr val="ECE5FA"/>
          </a:solidFill>
          <a:ln w="12700">
            <a:solidFill>
              <a:srgbClr val="67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00" b="1">
                <a:solidFill>
                  <a:srgbClr val="674A9E"/>
                </a:solidFill>
                <a:latin typeface="NanumSquare"/>
              </a:rPr>
              <a:t>고객</a:t>
            </a:r>
          </a:p>
          <a:p>
            <a:pPr algn="ctr">
              <a:spcBef>
                <a:spcPts val="300"/>
              </a:spcBef>
            </a:pPr>
            <a:r>
              <a:rPr sz="830" b="0">
                <a:solidFill>
                  <a:srgbClr val="1C2024"/>
                </a:solidFill>
                <a:latin typeface="NanumSquare"/>
              </a:rPr>
              <a:t>텔레그램/카톡 등록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572768"/>
            <a:ext cx="1417320" cy="658368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A62A8"/>
                </a:solidFill>
                <a:latin typeface="NanumSquare"/>
              </a:rPr>
              <a:t>API Server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고객·구독·설정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572768"/>
            <a:ext cx="1417320" cy="658368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A62A8"/>
                </a:solidFill>
                <a:latin typeface="NanumSquare"/>
              </a:rPr>
              <a:t>PostgreSQL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상태·설정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2560320"/>
            <a:ext cx="1417320" cy="658368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A62A8"/>
                </a:solidFill>
                <a:latin typeface="NanumSquare"/>
              </a:rPr>
              <a:t>Job Queue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수집/전송 작업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560320"/>
            <a:ext cx="1417320" cy="658368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A62A8"/>
                </a:solidFill>
                <a:latin typeface="NanumSquare"/>
              </a:rPr>
              <a:t>Secrets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토큰/비밀번호 참조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547872"/>
            <a:ext cx="1417320" cy="658368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A62A8"/>
                </a:solidFill>
                <a:latin typeface="NanumSquare"/>
              </a:rPr>
              <a:t>Webhook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Telegram 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547872"/>
            <a:ext cx="1417320" cy="658368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A62A8"/>
                </a:solidFill>
                <a:latin typeface="NanumSquare"/>
              </a:rPr>
              <a:t>Monitoring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로그/알림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572768"/>
            <a:ext cx="114300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30" b="1">
                <a:solidFill>
                  <a:srgbClr val="268757"/>
                </a:solidFill>
                <a:latin typeface="NanumSquare"/>
              </a:rPr>
              <a:t>Agent Core</a:t>
            </a:r>
          </a:p>
          <a:p>
            <a:pPr algn="ctr">
              <a:spcBef>
                <a:spcPts val="300"/>
              </a:spcBef>
            </a:pPr>
            <a:r>
              <a:rPr sz="770" b="0">
                <a:solidFill>
                  <a:srgbClr val="1C2024"/>
                </a:solidFill>
                <a:latin typeface="NanumSquare"/>
              </a:rPr>
              <a:t>등록/heartbeat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572768"/>
            <a:ext cx="114300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30" b="1">
                <a:solidFill>
                  <a:srgbClr val="268757"/>
                </a:solidFill>
                <a:latin typeface="NanumSquare"/>
              </a:rPr>
              <a:t>Browser Manager</a:t>
            </a:r>
          </a:p>
          <a:p>
            <a:pPr algn="ctr">
              <a:spcBef>
                <a:spcPts val="300"/>
              </a:spcBef>
            </a:pPr>
            <a:r>
              <a:rPr sz="770" b="0">
                <a:solidFill>
                  <a:srgbClr val="1C2024"/>
                </a:solidFill>
                <a:latin typeface="NanumSquare"/>
              </a:rPr>
              <a:t>Chrome profile/CDP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2560320"/>
            <a:ext cx="114300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30" b="1">
                <a:solidFill>
                  <a:srgbClr val="268757"/>
                </a:solidFill>
                <a:latin typeface="NanumSquare"/>
              </a:rPr>
              <a:t>Crawler</a:t>
            </a:r>
          </a:p>
          <a:p>
            <a:pPr algn="ctr">
              <a:spcBef>
                <a:spcPts val="300"/>
              </a:spcBef>
            </a:pPr>
            <a:r>
              <a:rPr sz="770" b="0">
                <a:solidFill>
                  <a:srgbClr val="1C2024"/>
                </a:solidFill>
                <a:latin typeface="NanumSquare"/>
              </a:rPr>
              <a:t>배민·쿠팡 읽기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560320"/>
            <a:ext cx="114300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30" b="1">
                <a:solidFill>
                  <a:srgbClr val="268757"/>
                </a:solidFill>
                <a:latin typeface="NanumSquare"/>
              </a:rPr>
              <a:t>Auth Handler</a:t>
            </a:r>
          </a:p>
          <a:p>
            <a:pPr algn="ctr">
              <a:spcBef>
                <a:spcPts val="300"/>
              </a:spcBef>
            </a:pPr>
            <a:r>
              <a:rPr sz="770" b="0">
                <a:solidFill>
                  <a:srgbClr val="1C2024"/>
                </a:solidFill>
                <a:latin typeface="NanumSquare"/>
              </a:rPr>
              <a:t>배민 감지/쿠팡 2FA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547872"/>
            <a:ext cx="114300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30" b="1">
                <a:solidFill>
                  <a:srgbClr val="268757"/>
                </a:solidFill>
                <a:latin typeface="NanumSquare"/>
              </a:rPr>
              <a:t>Kakao Sender</a:t>
            </a:r>
          </a:p>
          <a:p>
            <a:pPr algn="ctr">
              <a:spcBef>
                <a:spcPts val="300"/>
              </a:spcBef>
            </a:pPr>
            <a:r>
              <a:rPr sz="770" b="0">
                <a:solidFill>
                  <a:srgbClr val="1C2024"/>
                </a:solidFill>
                <a:latin typeface="NanumSquare"/>
              </a:rPr>
              <a:t>PC 앱 UI 전송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3547872"/>
            <a:ext cx="114300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30" b="1">
                <a:solidFill>
                  <a:srgbClr val="268757"/>
                </a:solidFill>
                <a:latin typeface="NanumSquare"/>
              </a:rPr>
              <a:t>Local Secure Store</a:t>
            </a:r>
          </a:p>
          <a:p>
            <a:pPr algn="ctr">
              <a:spcBef>
                <a:spcPts val="300"/>
              </a:spcBef>
            </a:pPr>
            <a:r>
              <a:rPr sz="770" b="0">
                <a:solidFill>
                  <a:srgbClr val="1C2024"/>
                </a:solidFill>
                <a:latin typeface="NanumSquare"/>
              </a:rPr>
              <a:t>Gmail token 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572768"/>
            <a:ext cx="1325880" cy="530352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50" b="1">
                <a:solidFill>
                  <a:srgbClr val="D87428"/>
                </a:solidFill>
                <a:latin typeface="NanumSquare"/>
              </a:rPr>
              <a:t>배민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휴대폰 인증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2331720"/>
            <a:ext cx="1325880" cy="530352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50" b="1">
                <a:solidFill>
                  <a:srgbClr val="D87428"/>
                </a:solidFill>
                <a:latin typeface="NanumSquare"/>
              </a:rPr>
              <a:t>쿠팡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Gmail 2FA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3090672"/>
            <a:ext cx="1325880" cy="530352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50" b="1">
                <a:solidFill>
                  <a:srgbClr val="D87428"/>
                </a:solidFill>
                <a:latin typeface="NanumSquare"/>
              </a:rPr>
              <a:t>Telegram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Bot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3849624"/>
            <a:ext cx="1325880" cy="530352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50" b="1">
                <a:solidFill>
                  <a:srgbClr val="D87428"/>
                </a:solidFill>
                <a:latin typeface="NanumSquare"/>
              </a:rPr>
              <a:t>KakaoTalk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PC 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31720" y="1929384"/>
            <a:ext cx="758952" cy="0"/>
          </a:xfrm>
          <a:prstGeom prst="line">
            <a:avLst/>
          </a:prstGeom>
          <a:ln w="19050">
            <a:solidFill>
              <a:srgbClr val="674A9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31720" y="2926080"/>
            <a:ext cx="758952" cy="0"/>
          </a:xfrm>
          <a:prstGeom prst="line">
            <a:avLst/>
          </a:prstGeom>
          <a:ln w="19050">
            <a:solidFill>
              <a:srgbClr val="674A9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83680" y="1920240"/>
            <a:ext cx="548640" cy="0"/>
          </a:xfrm>
          <a:prstGeom prst="line">
            <a:avLst/>
          </a:prstGeom>
          <a:ln w="1905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83680" y="2926080"/>
            <a:ext cx="548640" cy="0"/>
          </a:xfrm>
          <a:prstGeom prst="line">
            <a:avLst/>
          </a:prstGeom>
          <a:ln w="1905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83680" y="3840480"/>
            <a:ext cx="548640" cy="0"/>
          </a:xfrm>
          <a:prstGeom prst="line">
            <a:avLst/>
          </a:prstGeom>
          <a:ln w="1905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692640" y="1828800"/>
            <a:ext cx="502920" cy="91440"/>
          </a:xfrm>
          <a:prstGeom prst="line">
            <a:avLst/>
          </a:prstGeom>
          <a:ln w="1905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692640" y="2606040"/>
            <a:ext cx="502920" cy="274320"/>
          </a:xfrm>
          <a:prstGeom prst="line">
            <a:avLst/>
          </a:prstGeom>
          <a:ln w="1905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692640" y="3840480"/>
            <a:ext cx="502920" cy="274320"/>
          </a:xfrm>
          <a:prstGeom prst="line">
            <a:avLst/>
          </a:prstGeom>
          <a:ln w="1905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40480" y="4206240"/>
            <a:ext cx="0" cy="548640"/>
          </a:xfrm>
          <a:prstGeom prst="line">
            <a:avLst/>
          </a:prstGeom>
          <a:ln w="19050">
            <a:solidFill>
              <a:srgbClr val="2A62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5800" y="5074920"/>
            <a:ext cx="10881360" cy="731520"/>
          </a:xfrm>
          <a:prstGeom prst="roundRect">
            <a:avLst/>
          </a:prstGeom>
          <a:solidFill>
            <a:srgbClr val="FFF8D4"/>
          </a:solidFill>
          <a:ln w="12700">
            <a:solidFill>
              <a:srgbClr val="EB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D87428"/>
                </a:solidFill>
                <a:latin typeface="NanumSquare"/>
              </a:rPr>
              <a:t>기억 포인트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C2024"/>
                </a:solidFill>
                <a:latin typeface="NanumSquare"/>
              </a:rPr>
              <a:t>운영자가 기억할 기준: “중앙 서버는 상태와 지시를 관리하고, Agent PC는 실제 브라우저와 카카오톡을 조작한다.”</a:t>
            </a:r>
            <a:br/>
            <a:r>
              <a:rPr sz="1000" b="0">
                <a:solidFill>
                  <a:srgbClr val="1C2024"/>
                </a:solidFill>
                <a:latin typeface="NanumSquare"/>
              </a:rPr>
              <a:t>서버가 없으면 현재 일반 PC가 Agent #1입니다. 규모가 늘면 Agent #2, #3을 붙이면 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87919B"/>
                </a:solidFill>
                <a:latin typeface="NanumSquare"/>
              </a:rPr>
              <a:t>배달 실적봇 리팩토링 아키텍처 요약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52A4A"/>
                </a:solidFill>
                <a:latin typeface="NanumSquare"/>
              </a:rPr>
              <a:t>실적 메시지가 만들어져 채팅방까지 가는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498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C6670"/>
                </a:solidFill>
                <a:latin typeface="NanumSquare"/>
              </a:rPr>
              <a:t>수집과 전송을 분리해야 채팅방이 많아져도 Chrome 부하가 같이 늘지 않습니다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417320" cy="86868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100" b="1">
                <a:solidFill>
                  <a:srgbClr val="2A62A8"/>
                </a:solidFill>
                <a:latin typeface="NanumSquare"/>
              </a:rPr>
              <a:t>스케줄러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고객별 주기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지터 분산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0" y="2267712"/>
            <a:ext cx="384048" cy="0"/>
          </a:xfrm>
          <a:prstGeom prst="line">
            <a:avLst/>
          </a:prstGeom>
          <a:ln w="22860">
            <a:solidFill>
              <a:srgbClr val="2A62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79" y="1828800"/>
            <a:ext cx="1417320" cy="868680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100" b="1">
                <a:solidFill>
                  <a:srgbClr val="268757"/>
                </a:solidFill>
                <a:latin typeface="NanumSquare"/>
              </a:rPr>
              <a:t>CrawlJob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배민/쿠팡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화면 수집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2267712"/>
            <a:ext cx="384048" cy="0"/>
          </a:xfrm>
          <a:prstGeom prst="line">
            <a:avLst/>
          </a:prstGeom>
          <a:ln w="2286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43400" y="1828800"/>
            <a:ext cx="1417320" cy="868680"/>
          </a:xfrm>
          <a:prstGeom prst="roundRect">
            <a:avLst/>
          </a:prstGeom>
          <a:solidFill>
            <a:srgbClr val="ECE5FA"/>
          </a:solidFill>
          <a:ln w="12700">
            <a:solidFill>
              <a:srgbClr val="67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100" b="1">
                <a:solidFill>
                  <a:srgbClr val="674A9E"/>
                </a:solidFill>
                <a:latin typeface="NanumSquare"/>
              </a:rPr>
              <a:t>Snapshot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원본 실적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저장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720" y="2267712"/>
            <a:ext cx="384048" cy="0"/>
          </a:xfrm>
          <a:prstGeom prst="line">
            <a:avLst/>
          </a:prstGeom>
          <a:ln w="22860">
            <a:solidFill>
              <a:srgbClr val="674A9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1828800"/>
            <a:ext cx="1417320" cy="86868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100" b="1">
                <a:solidFill>
                  <a:srgbClr val="2A62A8"/>
                </a:solidFill>
                <a:latin typeface="NanumSquare"/>
              </a:rPr>
              <a:t>RenderJob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템플릿으로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메시지 생성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35240" y="2267712"/>
            <a:ext cx="384048" cy="0"/>
          </a:xfrm>
          <a:prstGeom prst="line">
            <a:avLst/>
          </a:prstGeom>
          <a:ln w="22860">
            <a:solidFill>
              <a:srgbClr val="2A62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92440" y="1828800"/>
            <a:ext cx="1417320" cy="868680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100" b="1">
                <a:solidFill>
                  <a:srgbClr val="D87428"/>
                </a:solidFill>
                <a:latin typeface="NanumSquare"/>
              </a:rPr>
              <a:t>DispatchJob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전송 대상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fan-out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0" y="2267712"/>
            <a:ext cx="384048" cy="0"/>
          </a:xfrm>
          <a:prstGeom prst="line">
            <a:avLst/>
          </a:prstGeom>
          <a:ln w="2286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66959" y="1828800"/>
            <a:ext cx="1417320" cy="8686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5C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100" b="1">
                <a:solidFill>
                  <a:srgbClr val="5C6670"/>
                </a:solidFill>
                <a:latin typeface="NanumSquare"/>
              </a:rPr>
              <a:t>DeliveryLog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성공/실패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중복 방지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520440"/>
            <a:ext cx="1325880" cy="56692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68757"/>
                </a:solidFill>
                <a:latin typeface="NanumSquare"/>
              </a:rPr>
              <a:t>Telegram 방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API 전송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520440"/>
            <a:ext cx="1325880" cy="56692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68757"/>
                </a:solidFill>
                <a:latin typeface="NanumSquare"/>
              </a:rPr>
              <a:t>Telegram 토픽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thread_id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3520440"/>
            <a:ext cx="1325880" cy="566928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D87428"/>
                </a:solidFill>
                <a:latin typeface="NanumSquare"/>
              </a:rPr>
              <a:t>Kakao 방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Sender Queue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498079" y="2697480"/>
            <a:ext cx="731521" cy="795528"/>
          </a:xfrm>
          <a:prstGeom prst="line">
            <a:avLst/>
          </a:prstGeom>
          <a:ln w="1651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2697480"/>
            <a:ext cx="896112" cy="795528"/>
          </a:xfrm>
          <a:prstGeom prst="line">
            <a:avLst/>
          </a:prstGeom>
          <a:ln w="1651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9600" y="2697480"/>
            <a:ext cx="2496312" cy="795528"/>
          </a:xfrm>
          <a:prstGeom prst="line">
            <a:avLst/>
          </a:prstGeom>
          <a:ln w="1651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3977639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152A4A"/>
                </a:solidFill>
                <a:latin typeface="NanumSquare"/>
              </a:rPr>
              <a:t>왜 이렇게 나누나?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1C2024"/>
                </a:solidFill>
                <a:latin typeface="NanumSquare"/>
              </a:rPr>
              <a:t>현재 run_once는 “수집→메시지→전송”이 한 묶음입니다.</a:t>
            </a:r>
            <a:br/>
            <a:r>
              <a:rPr sz="950" b="0">
                <a:solidFill>
                  <a:srgbClr val="1C2024"/>
                </a:solidFill>
                <a:latin typeface="NanumSquare"/>
              </a:rPr>
              <a:t>판매용에서는 같은 실적을 여러 채팅방에 보낼 수 있어야 하므로,</a:t>
            </a:r>
            <a:br/>
            <a:r>
              <a:rPr sz="950" b="0">
                <a:solidFill>
                  <a:srgbClr val="1C2024"/>
                </a:solidFill>
                <a:latin typeface="NanumSquare"/>
              </a:rPr>
              <a:t>크롤링 1회 후 전송만 여러 번 분기하는 구조가 필요합니다.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480560"/>
            <a:ext cx="4892040" cy="4114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00" b="1">
                <a:solidFill>
                  <a:srgbClr val="1C2024"/>
                </a:solidFill>
                <a:latin typeface="NanumSquare"/>
              </a:rPr>
              <a:t>중복 방지 키 = target_id + channel_id + snapshot_time + template_version + message_hash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87919B"/>
                </a:solidFill>
                <a:latin typeface="NanumSquare"/>
              </a:rPr>
              <a:t>배달 실적봇 리팩토링 아키텍처 요약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52A4A"/>
                </a:solidFill>
                <a:latin typeface="NanumSquare"/>
              </a:rPr>
              <a:t>고객 유입부터 자동화 활성화까지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498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C6670"/>
                </a:solidFill>
                <a:latin typeface="NanumSquare"/>
              </a:rPr>
              <a:t>구독제로 운영하려면 “결제 완료”가 아니라 “테스트 메시지 확인”까지가 온보딩입니다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1325880" cy="777240"/>
          </a:xfrm>
          <a:prstGeom prst="roundRect">
            <a:avLst/>
          </a:prstGeom>
          <a:solidFill>
            <a:srgbClr val="ECE5FA"/>
          </a:solidFill>
          <a:ln w="12700">
            <a:solidFill>
              <a:srgbClr val="67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674A9E"/>
                </a:solidFill>
                <a:latin typeface="NanumSquare"/>
              </a:rPr>
              <a:t>가입/결제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Tenant 생성</a:t>
            </a:r>
            <a:br/>
            <a:r>
              <a:rPr sz="780" b="0">
                <a:solidFill>
                  <a:srgbClr val="1C2024"/>
                </a:solidFill>
                <a:latin typeface="NanumSquare"/>
              </a:rPr>
              <a:t>요금제 적용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37360" y="1901952"/>
            <a:ext cx="274320" cy="0"/>
          </a:xfrm>
          <a:prstGeom prst="line">
            <a:avLst/>
          </a:prstGeom>
          <a:ln w="1651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39112" y="1508760"/>
            <a:ext cx="1325880" cy="777240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68757"/>
                </a:solidFill>
                <a:latin typeface="NanumSquare"/>
              </a:rPr>
              <a:t>Agent 등록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현재 일반 PC에</a:t>
            </a:r>
            <a:br/>
            <a:r>
              <a:rPr sz="780" b="0">
                <a:solidFill>
                  <a:srgbClr val="1C2024"/>
                </a:solidFill>
                <a:latin typeface="NanumSquare"/>
              </a:rPr>
              <a:t>등록코드 입력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64991" y="1901952"/>
            <a:ext cx="274321" cy="0"/>
          </a:xfrm>
          <a:prstGeom prst="line">
            <a:avLst/>
          </a:prstGeom>
          <a:ln w="1651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66744" y="1508760"/>
            <a:ext cx="1325880" cy="77724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A62A8"/>
                </a:solidFill>
                <a:latin typeface="NanumSquare"/>
              </a:rPr>
              <a:t>플랫폼 설정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배민/쿠팡</a:t>
            </a:r>
            <a:br/>
            <a:r>
              <a:rPr sz="780" b="0">
                <a:solidFill>
                  <a:srgbClr val="1C2024"/>
                </a:solidFill>
                <a:latin typeface="NanumSquare"/>
              </a:rPr>
              <a:t>센터/상점 입력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92624" y="1901952"/>
            <a:ext cx="274320" cy="0"/>
          </a:xfrm>
          <a:prstGeom prst="line">
            <a:avLst/>
          </a:prstGeom>
          <a:ln w="1651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94376" y="1508760"/>
            <a:ext cx="1325880" cy="777240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D87428"/>
                </a:solidFill>
                <a:latin typeface="NanumSquare"/>
              </a:rPr>
              <a:t>인증 완료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배민: 사람 인증</a:t>
            </a:r>
            <a:br/>
            <a:r>
              <a:rPr sz="780" b="0">
                <a:solidFill>
                  <a:srgbClr val="1C2024"/>
                </a:solidFill>
                <a:latin typeface="NanumSquare"/>
              </a:rPr>
              <a:t>쿠팡: Gmail OAuth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20256" y="1901952"/>
            <a:ext cx="274320" cy="0"/>
          </a:xfrm>
          <a:prstGeom prst="line">
            <a:avLst/>
          </a:prstGeom>
          <a:ln w="1651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22008" y="1508760"/>
            <a:ext cx="1325880" cy="777240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68757"/>
                </a:solidFill>
                <a:latin typeface="NanumSquare"/>
              </a:rPr>
              <a:t>채팅방 등록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Telegram /register</a:t>
            </a:r>
            <a:br/>
            <a:r>
              <a:rPr sz="780" b="0">
                <a:solidFill>
                  <a:srgbClr val="1C2024"/>
                </a:solidFill>
                <a:latin typeface="NanumSquare"/>
              </a:rPr>
              <a:t>Kakao 등록코드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47888" y="1901952"/>
            <a:ext cx="274320" cy="0"/>
          </a:xfrm>
          <a:prstGeom prst="line">
            <a:avLst/>
          </a:prstGeom>
          <a:ln w="1651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49640" y="1508760"/>
            <a:ext cx="1325880" cy="77724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2A62A8"/>
                </a:solidFill>
                <a:latin typeface="NanumSquare"/>
              </a:rPr>
              <a:t>테스트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수집 테스트</a:t>
            </a:r>
            <a:br/>
            <a:r>
              <a:rPr sz="780" b="0">
                <a:solidFill>
                  <a:srgbClr val="1C2024"/>
                </a:solidFill>
                <a:latin typeface="NanumSquare"/>
              </a:rPr>
              <a:t>메시지 테스트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75519" y="1901952"/>
            <a:ext cx="274321" cy="0"/>
          </a:xfrm>
          <a:prstGeom prst="line">
            <a:avLst/>
          </a:prstGeom>
          <a:ln w="1651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77272" y="1508760"/>
            <a:ext cx="1325880" cy="777240"/>
          </a:xfrm>
          <a:prstGeom prst="roundRect">
            <a:avLst/>
          </a:prstGeom>
          <a:solidFill>
            <a:srgbClr val="ECE5FA"/>
          </a:solidFill>
          <a:ln w="12700">
            <a:solidFill>
              <a:srgbClr val="67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80" b="1">
                <a:solidFill>
                  <a:srgbClr val="674A9E"/>
                </a:solidFill>
                <a:latin typeface="NanumSquare"/>
              </a:rPr>
              <a:t>ACTIVE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정기 실행</a:t>
            </a:r>
            <a:br/>
            <a:r>
              <a:rPr sz="780" b="0">
                <a:solidFill>
                  <a:srgbClr val="1C2024"/>
                </a:solidFill>
                <a:latin typeface="NanumSquare"/>
              </a:rPr>
              <a:t>상태 모니터링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71800"/>
            <a:ext cx="5212080" cy="301752"/>
          </a:xfrm>
          <a:prstGeom prst="roundRect">
            <a:avLst/>
          </a:prstGeom>
          <a:solidFill>
            <a:srgbClr val="D87428"/>
          </a:solidFill>
          <a:ln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배민 인증 플로우: 완전 자동 로그인이 아니라 사람 개입형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520440"/>
            <a:ext cx="1234440" cy="566928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00" b="1">
                <a:solidFill>
                  <a:srgbClr val="D87428"/>
                </a:solidFill>
                <a:latin typeface="NanumSquare"/>
              </a:rPr>
              <a:t>Chrome 열기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1C2024"/>
                </a:solidFill>
                <a:latin typeface="NanumSquare"/>
              </a:rPr>
              <a:t>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520440"/>
            <a:ext cx="1234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00" b="1">
                <a:solidFill>
                  <a:srgbClr val="B23737"/>
                </a:solidFill>
                <a:latin typeface="NanumSquare"/>
              </a:rPr>
              <a:t>휴대폰 인증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1C2024"/>
                </a:solidFill>
                <a:latin typeface="NanumSquare"/>
              </a:rPr>
              <a:t>고객/운영자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520440"/>
            <a:ext cx="1234440" cy="566928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00" b="1">
                <a:solidFill>
                  <a:srgbClr val="D87428"/>
                </a:solidFill>
                <a:latin typeface="NanumSquare"/>
              </a:rPr>
              <a:t>완료 감지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1C2024"/>
                </a:solidFill>
                <a:latin typeface="NanumSquare"/>
              </a:rPr>
              <a:t>Agent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03120" y="3803904"/>
            <a:ext cx="274320" cy="0"/>
          </a:xfrm>
          <a:prstGeom prst="line">
            <a:avLst/>
          </a:prstGeom>
          <a:ln w="1905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3803904"/>
            <a:ext cx="274320" cy="0"/>
          </a:xfrm>
          <a:prstGeom prst="line">
            <a:avLst/>
          </a:prstGeom>
          <a:ln w="1905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09360" y="2971800"/>
            <a:ext cx="5212080" cy="301752"/>
          </a:xfrm>
          <a:prstGeom prst="roundRect">
            <a:avLst/>
          </a:prstGeom>
          <a:solidFill>
            <a:srgbClr val="268757"/>
          </a:solidFill>
          <a:ln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쿠팡 인증 플로우: Gmail 2FA 자동복구 가능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520440"/>
            <a:ext cx="1143000" cy="56692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00" b="1">
                <a:solidFill>
                  <a:srgbClr val="268757"/>
                </a:solidFill>
                <a:latin typeface="NanumSquare"/>
              </a:rPr>
              <a:t>로그인 감지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1C2024"/>
                </a:solidFill>
                <a:latin typeface="NanumSquare"/>
              </a:rPr>
              <a:t>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3520440"/>
            <a:ext cx="1143000" cy="56692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00" b="1">
                <a:solidFill>
                  <a:srgbClr val="268757"/>
                </a:solidFill>
                <a:latin typeface="NanumSquare"/>
              </a:rPr>
              <a:t>메일 조회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1C2024"/>
                </a:solidFill>
                <a:latin typeface="NanumSquare"/>
              </a:rPr>
              <a:t>Gmail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3520440"/>
            <a:ext cx="1143000" cy="56692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00" b="1">
                <a:solidFill>
                  <a:srgbClr val="268757"/>
                </a:solidFill>
                <a:latin typeface="NanumSquare"/>
              </a:rPr>
              <a:t>인증번호 입력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1C2024"/>
                </a:solidFill>
                <a:latin typeface="NanumSquare"/>
              </a:rPr>
              <a:t>자동화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35240" y="3803904"/>
            <a:ext cx="246887" cy="0"/>
          </a:xfrm>
          <a:prstGeom prst="line">
            <a:avLst/>
          </a:prstGeom>
          <a:ln w="1905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52560" y="3803904"/>
            <a:ext cx="246888" cy="0"/>
          </a:xfrm>
          <a:prstGeom prst="line">
            <a:avLst/>
          </a:prstGeom>
          <a:ln w="1905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77240" y="4937760"/>
            <a:ext cx="10652760" cy="685800"/>
          </a:xfrm>
          <a:prstGeom prst="roundRect">
            <a:avLst/>
          </a:prstGeom>
          <a:solidFill>
            <a:srgbClr val="FFF8D4"/>
          </a:solidFill>
          <a:ln w="12700">
            <a:solidFill>
              <a:srgbClr val="EB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D87428"/>
                </a:solidFill>
                <a:latin typeface="NanumSquare"/>
              </a:rPr>
              <a:t>기억 포인트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C2024"/>
                </a:solidFill>
                <a:latin typeface="NanumSquare"/>
              </a:rPr>
              <a:t>온보딩 성공 기준은 “설정 저장”이 아니라 “실제 화면 수집 성공 + 실제 채팅방 테스트 메시지 확인”입니다.</a:t>
            </a:r>
            <a:br/>
            <a:r>
              <a:rPr sz="1000" b="0">
                <a:solidFill>
                  <a:srgbClr val="1C2024"/>
                </a:solidFill>
                <a:latin typeface="NanumSquare"/>
              </a:rPr>
              <a:t>이 기준을 잡아야 고객 유입 후 운영 장애가 줄어듭니다.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87919B"/>
                </a:solidFill>
                <a:latin typeface="NanumSquare"/>
              </a:rPr>
              <a:t>배달 실적봇 리팩토링 아키텍처 요약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52A4A"/>
                </a:solidFill>
                <a:latin typeface="NanumSquare"/>
              </a:rPr>
              <a:t>로그인/재인증 상태 머신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498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C6670"/>
                </a:solidFill>
                <a:latin typeface="NanumSquare"/>
              </a:rPr>
              <a:t>배민과 쿠팡 모두 “로그인 상태”를 명확한 상태값으로 관리해야 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874519" cy="822960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268757"/>
                </a:solidFill>
                <a:latin typeface="NanumSquare"/>
              </a:rPr>
              <a:t>ACTIVE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정상 수집/전송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00200"/>
            <a:ext cx="1874519" cy="822960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D87428"/>
                </a:solidFill>
                <a:latin typeface="NanumSquare"/>
              </a:rPr>
              <a:t>AUTH_REQUIRED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로그인/인증 필요 감지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00200"/>
            <a:ext cx="2286000" cy="822960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D87428"/>
                </a:solidFill>
                <a:latin typeface="NanumSquare"/>
              </a:rPr>
              <a:t>USER_ACTION_PENDING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배민 휴대폰 인증 대기</a:t>
            </a:r>
            <a:br/>
            <a:r>
              <a:rPr sz="850" b="0">
                <a:solidFill>
                  <a:srgbClr val="1C2024"/>
                </a:solidFill>
                <a:latin typeface="NanumSquare"/>
              </a:rPr>
              <a:t>또는 Gmail 재승인 대기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600200"/>
            <a:ext cx="1874519" cy="822960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268757"/>
                </a:solidFill>
                <a:latin typeface="NanumSquare"/>
              </a:rPr>
              <a:t>AUTH_VERIFIED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인증 완료 감지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794760"/>
            <a:ext cx="1874519" cy="822960"/>
          </a:xfrm>
          <a:prstGeom prst="roundRect">
            <a:avLst/>
          </a:prstGeom>
          <a:solidFill>
            <a:srgbClr val="FFE5E5"/>
          </a:solidFill>
          <a:ln w="12700">
            <a:solidFill>
              <a:srgbClr val="B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B23737"/>
                </a:solidFill>
                <a:latin typeface="NanumSquare"/>
              </a:rPr>
              <a:t>DEGRADED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일부 기능 실패</a:t>
            </a:r>
            <a:br/>
            <a:r>
              <a:rPr sz="850" b="0">
                <a:solidFill>
                  <a:srgbClr val="1C2024"/>
                </a:solidFill>
                <a:latin typeface="NanumSquare"/>
              </a:rPr>
              <a:t>전송 지연/파서 경고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794760"/>
            <a:ext cx="1874519" cy="8229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5C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50" b="1">
                <a:solidFill>
                  <a:srgbClr val="5C6670"/>
                </a:solidFill>
                <a:latin typeface="NanumSquare"/>
              </a:rPr>
              <a:t>SUSPENDED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1C2024"/>
                </a:solidFill>
                <a:latin typeface="NanumSquare"/>
              </a:rPr>
              <a:t>구독 중지</a:t>
            </a:r>
            <a:br/>
            <a:r>
              <a:rPr sz="850" b="0">
                <a:solidFill>
                  <a:srgbClr val="1C2024"/>
                </a:solidFill>
                <a:latin typeface="NanumSquare"/>
              </a:rPr>
              <a:t>또는 장기 장애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011680"/>
            <a:ext cx="274320" cy="0"/>
          </a:xfrm>
          <a:prstGeom prst="line">
            <a:avLst/>
          </a:prstGeom>
          <a:ln w="1905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00600" y="2011680"/>
            <a:ext cx="557784" cy="0"/>
          </a:xfrm>
          <a:prstGeom prst="line">
            <a:avLst/>
          </a:prstGeom>
          <a:ln w="1905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80960" y="2011680"/>
            <a:ext cx="548640" cy="0"/>
          </a:xfrm>
          <a:prstGeom prst="line">
            <a:avLst/>
          </a:prstGeom>
          <a:ln w="1905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606040" y="2423160"/>
            <a:ext cx="5669280" cy="0"/>
          </a:xfrm>
          <a:prstGeom prst="line">
            <a:avLst/>
          </a:prstGeom>
          <a:ln w="1778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00600" y="2450592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68757"/>
                </a:solidFill>
                <a:latin typeface="NanumSquare"/>
              </a:rPr>
              <a:t>완료 후 다시 ACTIVE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58768" y="2423160"/>
            <a:ext cx="0" cy="1325879"/>
          </a:xfrm>
          <a:prstGeom prst="line">
            <a:avLst/>
          </a:prstGeom>
          <a:ln w="15240">
            <a:solidFill>
              <a:srgbClr val="B237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09360" y="2423160"/>
            <a:ext cx="0" cy="1325879"/>
          </a:xfrm>
          <a:prstGeom prst="line">
            <a:avLst/>
          </a:prstGeom>
          <a:ln w="15240">
            <a:solidFill>
              <a:srgbClr val="B237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0600" y="4187952"/>
            <a:ext cx="1554480" cy="0"/>
          </a:xfrm>
          <a:prstGeom prst="line">
            <a:avLst/>
          </a:prstGeom>
          <a:ln w="15240">
            <a:solidFill>
              <a:srgbClr val="B237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5074920"/>
            <a:ext cx="5029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000" b="1">
                <a:solidFill>
                  <a:srgbClr val="152A4A"/>
                </a:solidFill>
                <a:latin typeface="NanumSquare"/>
              </a:rPr>
              <a:t>운영 알림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AUTH_REQUIRED 즉시 알림 · 마지막 성공 시각 초과 알림 · Kakao queue lag 알림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074920"/>
            <a:ext cx="4663440" cy="621792"/>
          </a:xfrm>
          <a:prstGeom prst="roundRect">
            <a:avLst/>
          </a:prstGeom>
          <a:solidFill>
            <a:srgbClr val="FFF8D4"/>
          </a:solidFill>
          <a:ln w="12700">
            <a:solidFill>
              <a:srgbClr val="EB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000" b="1">
                <a:solidFill>
                  <a:srgbClr val="D87428"/>
                </a:solidFill>
                <a:latin typeface="NanumSquare"/>
              </a:rPr>
              <a:t>중요 원칙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실패를 무한 재시도하지 말고 상태를 바꿔 사람이 조치하게 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87919B"/>
                </a:solidFill>
                <a:latin typeface="NanumSquare"/>
              </a:rPr>
              <a:t>배달 실적봇 리팩토링 아키텍처 요약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52A4A"/>
                </a:solidFill>
                <a:latin typeface="NanumSquare"/>
              </a:rPr>
              <a:t>Telegram과 KakaoTalk 전송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498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C6670"/>
                </a:solidFill>
                <a:latin typeface="NanumSquare"/>
              </a:rPr>
              <a:t>텔레그램은 API 중앙화, 카카오톡은 Windows Sender Queue로 분리합니다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70432"/>
            <a:ext cx="5212080" cy="301752"/>
          </a:xfrm>
          <a:prstGeom prst="roundRect">
            <a:avLst/>
          </a:prstGeom>
          <a:solidFill>
            <a:srgbClr val="268757"/>
          </a:solidFill>
          <a:ln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Telegram: 중앙 서버에서 안정적으로 전송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55648"/>
            <a:ext cx="146304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00" b="1">
                <a:solidFill>
                  <a:srgbClr val="268757"/>
                </a:solidFill>
                <a:latin typeface="NanumSquare"/>
              </a:rPr>
              <a:t>고객 그룹</a:t>
            </a:r>
          </a:p>
          <a:p>
            <a:pPr algn="ctr">
              <a:spcBef>
                <a:spcPts val="300"/>
              </a:spcBef>
            </a:pPr>
            <a:r>
              <a:rPr sz="840" b="0">
                <a:solidFill>
                  <a:srgbClr val="1C2024"/>
                </a:solidFill>
                <a:latin typeface="NanumSquare"/>
              </a:rPr>
              <a:t>/register 코드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755648"/>
            <a:ext cx="146304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00" b="1">
                <a:solidFill>
                  <a:srgbClr val="268757"/>
                </a:solidFill>
                <a:latin typeface="NanumSquare"/>
              </a:rPr>
              <a:t>Webhook</a:t>
            </a:r>
          </a:p>
          <a:p>
            <a:pPr algn="ctr">
              <a:spcBef>
                <a:spcPts val="300"/>
              </a:spcBef>
            </a:pPr>
            <a:r>
              <a:rPr sz="840" b="0">
                <a:solidFill>
                  <a:srgbClr val="1C2024"/>
                </a:solidFill>
                <a:latin typeface="NanumSquare"/>
              </a:rPr>
              <a:t>chat_id/topic_id 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55648"/>
            <a:ext cx="914400" cy="658368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1000" b="1">
                <a:solidFill>
                  <a:srgbClr val="268757"/>
                </a:solidFill>
                <a:latin typeface="NanumSquare"/>
              </a:rPr>
              <a:t>전송</a:t>
            </a:r>
          </a:p>
          <a:p>
            <a:pPr algn="ctr">
              <a:spcBef>
                <a:spcPts val="300"/>
              </a:spcBef>
            </a:pPr>
            <a:r>
              <a:rPr sz="840" b="0">
                <a:solidFill>
                  <a:srgbClr val="1C2024"/>
                </a:solidFill>
                <a:latin typeface="NanumSquare"/>
              </a:rPr>
              <a:t>Bot 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084831"/>
            <a:ext cx="347472" cy="0"/>
          </a:xfrm>
          <a:prstGeom prst="line">
            <a:avLst/>
          </a:prstGeom>
          <a:ln w="1905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06240" y="2084831"/>
            <a:ext cx="347472" cy="0"/>
          </a:xfrm>
          <a:prstGeom prst="line">
            <a:avLst/>
          </a:prstGeom>
          <a:ln w="19050">
            <a:solidFill>
              <a:srgbClr val="268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2880360"/>
            <a:ext cx="4526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050" b="1">
                <a:solidFill>
                  <a:srgbClr val="152A4A"/>
                </a:solidFill>
                <a:latin typeface="NanumSquare"/>
              </a:rPr>
              <a:t>특징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방/토픽 자동 등록 가능 · 전송 성공/실패 추적 쉬움 · 중앙 서버와 궁합 좋음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70432"/>
            <a:ext cx="5212080" cy="301752"/>
          </a:xfrm>
          <a:prstGeom prst="roundRect">
            <a:avLst/>
          </a:prstGeom>
          <a:solidFill>
            <a:srgbClr val="D87428"/>
          </a:solidFill>
          <a:ln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KakaoTalk: PC 앱 UI 자동화라 직렬 전송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664208"/>
            <a:ext cx="1325880" cy="594360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60" b="1">
                <a:solidFill>
                  <a:srgbClr val="D87428"/>
                </a:solidFill>
                <a:latin typeface="NanumSquare"/>
              </a:rPr>
              <a:t>Dispatch Queue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전송 대기열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64208"/>
            <a:ext cx="1325880" cy="594360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60" b="1">
                <a:solidFill>
                  <a:srgbClr val="D87428"/>
                </a:solidFill>
                <a:latin typeface="NanumSquare"/>
              </a:rPr>
              <a:t>Sender Agent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Windows 세션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1664208"/>
            <a:ext cx="1325880" cy="594360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60" b="1">
                <a:solidFill>
                  <a:srgbClr val="D87428"/>
                </a:solidFill>
                <a:latin typeface="NanumSquare"/>
              </a:rPr>
              <a:t>Kakao 방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C2024"/>
                </a:solidFill>
                <a:latin typeface="NanumSquare"/>
              </a:rPr>
              <a:t>고유 방명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46720" y="1956816"/>
            <a:ext cx="246888" cy="0"/>
          </a:xfrm>
          <a:prstGeom prst="line">
            <a:avLst/>
          </a:prstGeom>
          <a:ln w="1905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46920" y="1956816"/>
            <a:ext cx="246888" cy="0"/>
          </a:xfrm>
          <a:prstGeom prst="line">
            <a:avLst/>
          </a:prstGeom>
          <a:ln w="19050">
            <a:solidFill>
              <a:srgbClr val="D874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720840" y="2788920"/>
            <a:ext cx="1325880" cy="530352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19" b="1">
                <a:solidFill>
                  <a:srgbClr val="D87428"/>
                </a:solidFill>
                <a:latin typeface="NanumSquare"/>
              </a:rPr>
              <a:t>Sender #1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계정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788920"/>
            <a:ext cx="1325880" cy="530352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19" b="1">
                <a:solidFill>
                  <a:srgbClr val="D87428"/>
                </a:solidFill>
                <a:latin typeface="NanumSquare"/>
              </a:rPr>
              <a:t>Sender #2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계정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2788920"/>
            <a:ext cx="1325880" cy="530352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ctr"/>
            <a:r>
              <a:rPr sz="919" b="1">
                <a:solidFill>
                  <a:srgbClr val="D87428"/>
                </a:solidFill>
                <a:latin typeface="NanumSquare"/>
              </a:rPr>
              <a:t>Sender #N</a:t>
            </a:r>
          </a:p>
          <a:p>
            <a:pPr algn="ctr">
              <a:spcBef>
                <a:spcPts val="300"/>
              </a:spcBef>
            </a:pPr>
            <a:r>
              <a:rPr sz="780" b="0">
                <a:solidFill>
                  <a:srgbClr val="1C2024"/>
                </a:solidFill>
                <a:latin typeface="NanumSquare"/>
              </a:rPr>
              <a:t>증설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3858768"/>
            <a:ext cx="45262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050" b="1">
                <a:solidFill>
                  <a:srgbClr val="B23737"/>
                </a:solidFill>
                <a:latin typeface="NanumSquare"/>
              </a:rPr>
              <a:t>주의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카카오톡은 창 포커스/클립보드/채팅방 검색에 의존합니다.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한 Windows 세션에서 동시 전송 금지, 반드시 queue로 직렬 처리합니다.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166360"/>
            <a:ext cx="10561320" cy="658368"/>
          </a:xfrm>
          <a:prstGeom prst="roundRect">
            <a:avLst/>
          </a:prstGeom>
          <a:solidFill>
            <a:srgbClr val="FFF8D4"/>
          </a:solidFill>
          <a:ln w="12700">
            <a:solidFill>
              <a:srgbClr val="EB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D87428"/>
                </a:solidFill>
                <a:latin typeface="NanumSquare"/>
              </a:rPr>
              <a:t>기억 포인트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C2024"/>
                </a:solidFill>
                <a:latin typeface="NanumSquare"/>
              </a:rPr>
              <a:t>요금제 기억법: Telegram은 기본형, KakaoTalk은 프리미엄/제한형으로 두는 것이 안전합니다.</a:t>
            </a:r>
            <a:br/>
            <a:r>
              <a:rPr sz="1000" b="0">
                <a:solidFill>
                  <a:srgbClr val="1C2024"/>
                </a:solidFill>
                <a:latin typeface="NanumSquare"/>
              </a:rPr>
              <a:t>카카오톡 다수 방 전송은 서버 성능보다 Sender Queue 안정성이 핵심입니다.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87919B"/>
                </a:solidFill>
                <a:latin typeface="NanumSquare"/>
              </a:rPr>
              <a:t>배달 실적봇 리팩토링 아키텍처 요약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52A4A"/>
                </a:solidFill>
                <a:latin typeface="NanumSquare"/>
              </a:rPr>
              <a:t>일반 PC에서 시작하고, 언제 서버/작업 PC를 사야 하나?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498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C6670"/>
                </a:solidFill>
                <a:latin typeface="NanumSquare"/>
              </a:rPr>
              <a:t>초기에는 현재 PC를 Agent #1로 쓰고, 지표가 기준을 넘으면 작업 노드를 추가합니다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70432"/>
            <a:ext cx="2743200" cy="301752"/>
          </a:xfrm>
          <a:prstGeom prst="roundRect">
            <a:avLst/>
          </a:prstGeom>
          <a:solidFill>
            <a:srgbClr val="268757"/>
          </a:solidFill>
          <a:ln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1단계: 현재 일반 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170432"/>
            <a:ext cx="2743200" cy="301752"/>
          </a:xfrm>
          <a:prstGeom prst="roundRect">
            <a:avLst/>
          </a:prstGeom>
          <a:solidFill>
            <a:srgbClr val="2A62A8"/>
          </a:solidFill>
          <a:ln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2단계: 전용 작업 PC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170432"/>
            <a:ext cx="2377440" cy="301752"/>
          </a:xfrm>
          <a:prstGeom prst="roundRect">
            <a:avLst/>
          </a:prstGeom>
          <a:solidFill>
            <a:srgbClr val="674A9E"/>
          </a:solidFill>
          <a:ln>
            <a:solidFill>
              <a:srgbClr val="67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3단계: 여러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8360" y="1170432"/>
            <a:ext cx="1920240" cy="301752"/>
          </a:xfrm>
          <a:prstGeom prst="roundRect">
            <a:avLst/>
          </a:prstGeom>
          <a:solidFill>
            <a:srgbClr val="D87428"/>
          </a:solidFill>
          <a:ln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anumSquare"/>
              </a:rPr>
              <a:t>클라우드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2331720" cy="1234440"/>
          </a:xfrm>
          <a:prstGeom prst="roundRect">
            <a:avLst/>
          </a:prstGeom>
          <a:solidFill>
            <a:srgbClr val="DDF5EB"/>
          </a:solidFill>
          <a:ln w="12700">
            <a:solidFill>
              <a:srgbClr val="26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268757"/>
                </a:solidFill>
                <a:latin typeface="NanumSquare"/>
              </a:rPr>
              <a:t>소규모 운영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활성 대상 10~20개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현재 PC + Agent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Cloud 중앙 서버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카카오 전송량 실측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691640"/>
            <a:ext cx="2331720" cy="123444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2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2A62A8"/>
                </a:solidFill>
                <a:latin typeface="NanumSquare"/>
              </a:rPr>
              <a:t>구매 검토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활성 대상 20~30개 초과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RAM/CPU 병목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queue lag 120초 초과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절전/재부팅 문제 반복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91640"/>
            <a:ext cx="1965960" cy="1234440"/>
          </a:xfrm>
          <a:prstGeom prst="roundRect">
            <a:avLst/>
          </a:prstGeom>
          <a:solidFill>
            <a:srgbClr val="ECE5FA"/>
          </a:solidFill>
          <a:ln w="12700">
            <a:solidFill>
              <a:srgbClr val="67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674A9E"/>
                </a:solidFill>
                <a:latin typeface="NanumSquare"/>
              </a:rPr>
              <a:t>확장 운영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1C2024"/>
                </a:solidFill>
                <a:latin typeface="NanumSquare"/>
              </a:rPr>
              <a:t>Agent #2, #3 추가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고객/플랫폼별 분산</a:t>
            </a:r>
            <a:br/>
            <a:r>
              <a:rPr sz="900" b="0">
                <a:solidFill>
                  <a:srgbClr val="1C2024"/>
                </a:solidFill>
                <a:latin typeface="NanumSquare"/>
              </a:rPr>
              <a:t>Kakao Sender Pool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21240" y="1691640"/>
            <a:ext cx="1508760" cy="1234440"/>
          </a:xfrm>
          <a:prstGeom prst="roundRect">
            <a:avLst/>
          </a:prstGeom>
          <a:solidFill>
            <a:srgbClr val="FFEBDA"/>
          </a:solidFill>
          <a:ln w="12700">
            <a:solidFill>
              <a:srgbClr val="D8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050" b="1">
                <a:solidFill>
                  <a:srgbClr val="D87428"/>
                </a:solidFill>
                <a:latin typeface="NanumSquare"/>
              </a:rPr>
              <a:t>항상 유지</a:t>
            </a:r>
          </a:p>
          <a:p>
            <a:pPr algn="l">
              <a:spcBef>
                <a:spcPts val="300"/>
              </a:spcBef>
            </a:pPr>
            <a:r>
              <a:rPr sz="860" b="0">
                <a:solidFill>
                  <a:srgbClr val="1C2024"/>
                </a:solidFill>
                <a:latin typeface="NanumSquare"/>
              </a:rPr>
              <a:t>API/Admin</a:t>
            </a:r>
            <a:br/>
            <a:r>
              <a:rPr sz="860" b="0">
                <a:solidFill>
                  <a:srgbClr val="1C2024"/>
                </a:solidFill>
                <a:latin typeface="NanumSquare"/>
              </a:rPr>
              <a:t>DB/Queue</a:t>
            </a:r>
            <a:br/>
            <a:r>
              <a:rPr sz="860" b="0">
                <a:solidFill>
                  <a:srgbClr val="1C2024"/>
                </a:solidFill>
                <a:latin typeface="NanumSquare"/>
              </a:rPr>
              <a:t>로그/알림</a:t>
            </a:r>
            <a:br/>
            <a:r>
              <a:rPr sz="860" b="0">
                <a:solidFill>
                  <a:srgbClr val="1C2024"/>
                </a:solidFill>
                <a:latin typeface="NanumSquare"/>
              </a:rPr>
              <a:t>Telegram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2304288"/>
            <a:ext cx="822960" cy="0"/>
          </a:xfrm>
          <a:prstGeom prst="line">
            <a:avLst/>
          </a:prstGeom>
          <a:ln w="1778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09360" y="2304288"/>
            <a:ext cx="822960" cy="0"/>
          </a:xfrm>
          <a:prstGeom prst="line">
            <a:avLst/>
          </a:prstGeom>
          <a:ln w="1778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2304288"/>
            <a:ext cx="731520" cy="0"/>
          </a:xfrm>
          <a:prstGeom prst="line">
            <a:avLst/>
          </a:prstGeom>
          <a:ln w="17780">
            <a:solidFill>
              <a:srgbClr val="5C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" y="379476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152A4A"/>
                </a:solidFill>
                <a:latin typeface="NanumSquare"/>
              </a:rPr>
              <a:t>구매 권장 사양</a:t>
            </a:r>
          </a:p>
          <a:p>
            <a:pPr algn="l">
              <a:spcBef>
                <a:spcPts val="300"/>
              </a:spcBef>
            </a:pPr>
            <a:r>
              <a:rPr sz="930" b="0">
                <a:solidFill>
                  <a:srgbClr val="1C2024"/>
                </a:solidFill>
                <a:latin typeface="NanumSquare"/>
              </a:rPr>
              <a:t>Windows 작업 PC/서버 · RAM 64GB 이상, 가능하면 128GB</a:t>
            </a:r>
            <a:br/>
            <a:r>
              <a:rPr sz="930" b="0">
                <a:solidFill>
                  <a:srgbClr val="1C2024"/>
                </a:solidFill>
                <a:latin typeface="NanumSquare"/>
              </a:rPr>
              <a:t>NVMe SSD · 유선 인터넷 · 절전 해제 · 원격접속 보안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794760"/>
            <a:ext cx="3154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152A4A"/>
                </a:solidFill>
                <a:latin typeface="NanumSquare"/>
              </a:rPr>
              <a:t>구매 전 측정값</a:t>
            </a:r>
          </a:p>
          <a:p>
            <a:pPr algn="l">
              <a:spcBef>
                <a:spcPts val="300"/>
              </a:spcBef>
            </a:pPr>
            <a:r>
              <a:rPr sz="930" b="0">
                <a:solidFill>
                  <a:srgbClr val="1C2024"/>
                </a:solidFill>
                <a:latin typeface="NanumSquare"/>
              </a:rPr>
              <a:t>Chrome profile당 RAM · 평균 수집 시간</a:t>
            </a:r>
            <a:br/>
            <a:r>
              <a:rPr sz="930" b="0">
                <a:solidFill>
                  <a:srgbClr val="1C2024"/>
                </a:solidFill>
                <a:latin typeface="NanumSquare"/>
              </a:rPr>
              <a:t>카카오 평균 전송 시간 · 실패/재시도율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794760"/>
            <a:ext cx="3063240" cy="868680"/>
          </a:xfrm>
          <a:prstGeom prst="roundRect">
            <a:avLst/>
          </a:prstGeom>
          <a:solidFill>
            <a:srgbClr val="FFE5E5"/>
          </a:solidFill>
          <a:ln w="12700">
            <a:solidFill>
              <a:srgbClr val="B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B23737"/>
                </a:solidFill>
                <a:latin typeface="NanumSquare"/>
              </a:rPr>
              <a:t>절대 금지</a:t>
            </a:r>
          </a:p>
          <a:p>
            <a:pPr algn="l">
              <a:spcBef>
                <a:spcPts val="300"/>
              </a:spcBef>
            </a:pPr>
            <a:r>
              <a:rPr sz="930" b="0">
                <a:solidFill>
                  <a:srgbClr val="1C2024"/>
                </a:solidFill>
                <a:latin typeface="NanumSquare"/>
              </a:rPr>
              <a:t>탭만 100개로 늘리기</a:t>
            </a:r>
            <a:br/>
            <a:r>
              <a:rPr sz="930" b="0">
                <a:solidFill>
                  <a:srgbClr val="1C2024"/>
                </a:solidFill>
                <a:latin typeface="NanumSquare"/>
              </a:rPr>
              <a:t>한 Windows 세션에서 카카오 동시 전송</a:t>
            </a:r>
            <a:br/>
            <a:r>
              <a:rPr sz="930" b="0">
                <a:solidFill>
                  <a:srgbClr val="1C2024"/>
                </a:solidFill>
                <a:latin typeface="NanumSquare"/>
              </a:rPr>
              <a:t>토큰/비밀번호 평문 로그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166360"/>
            <a:ext cx="10515600" cy="621792"/>
          </a:xfrm>
          <a:prstGeom prst="roundRect">
            <a:avLst/>
          </a:prstGeom>
          <a:solidFill>
            <a:srgbClr val="FFF8D4"/>
          </a:solidFill>
          <a:ln w="12700">
            <a:solidFill>
              <a:srgbClr val="EB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36576" bIns="36576"/>
          <a:lstStyle/>
          <a:p>
            <a:pPr algn="l"/>
            <a:r>
              <a:rPr sz="1100" b="1">
                <a:solidFill>
                  <a:srgbClr val="D87428"/>
                </a:solidFill>
                <a:latin typeface="NanumSquare"/>
              </a:rPr>
              <a:t>기억 포인트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C2024"/>
                </a:solidFill>
                <a:latin typeface="NanumSquare"/>
              </a:rPr>
              <a:t>최종 판단: “고성능 서버부터 구매”가 아니라 “중앙 서버 + 현재 PC Agent”로 시작한 뒤, 병목 지표가 보이면 작업 PC를 추가 구매합니다.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87919B"/>
                </a:solidFill>
                <a:latin typeface="NanumSquare"/>
              </a:rPr>
              <a:t>배달 실적봇 리팩토링 아키텍처 요약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배달 실적봇 아키텍처 다이어그램</dc:title>
  <dc:subject>클라우드 중앙 서버 + 일반 PC Agent 구조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